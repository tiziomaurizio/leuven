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Week 1: Discrete Event Systems</a:t>
            </a:r>
          </a:p>
          <a:p>
            <a:r>
              <a:t>&amp; Supervisory Control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PhD Preparation — Holonic Demanufacturing</a:t>
            </a:r>
          </a:p>
          <a:p>
            <a:r>
              <a:t>under Structural Uncertainty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1 —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Day 1: DES foundations — what is a DES, event alphabets</a:t>
            </a:r>
          </a:p>
          <a:p>
            <a:pPr>
              <a:defRPr sz="1600"/>
            </a:pPr>
            <a:r>
              <a:t>Day 2: Automata for DES — DFA, marked states, languages</a:t>
            </a:r>
          </a:p>
          <a:p>
            <a:pPr>
              <a:defRPr sz="1600"/>
            </a:pPr>
            <a:r>
              <a:t>Day 3: Supervisory Control Theory — plant/supervisor split</a:t>
            </a:r>
          </a:p>
          <a:p>
            <a:pPr>
              <a:defRPr sz="1600"/>
            </a:pPr>
            <a:r>
              <a:t>Day 4: Controllability &amp; Observability</a:t>
            </a:r>
          </a:p>
          <a:p>
            <a:pPr>
              <a:defRPr sz="1600"/>
            </a:pPr>
            <a:r>
              <a:t>Day 5: Safety, Liveness, Blocking/Nonblocking</a:t>
            </a:r>
          </a:p>
          <a:p>
            <a:pPr>
              <a:defRPr sz="1600"/>
            </a:pPr>
            <a:r>
              <a:t>Day 6: Complete worked example — automaton + supervisor</a:t>
            </a:r>
          </a:p>
          <a:p>
            <a:pPr>
              <a:defRPr sz="1600"/>
            </a:pPr>
            <a:r>
              <a:t>Day 7: Introduction to Petri Nets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Discrete-Event System?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State changes at discrete instants, triggered by events</a:t>
            </a:r>
          </a:p>
          <a:p>
            <a:pPr>
              <a:defRPr sz="1600"/>
            </a:pPr>
            <a:r>
              <a:t>Not time-driven — the system waits for something to happen</a:t>
            </a:r>
          </a:p>
          <a:p>
            <a:pPr>
              <a:defRPr sz="1600"/>
            </a:pPr>
            <a:r>
              <a:t>Natural fit for manufacturing/demanufacturing cells:</a:t>
            </a:r>
          </a:p>
          <a:p>
            <a:pPr>
              <a:defRPr sz="1600"/>
            </a:pPr>
            <a:r>
              <a:t>  → arrivals, inspections, faults, routing decisions</a:t>
            </a:r>
          </a:p>
          <a:p>
            <a:pPr>
              <a:defRPr sz="1600"/>
            </a:pPr>
            <a:r>
              <a:t>Key modelling primitive: the EVENT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Source: Cassandras, Discrete Event Systems (EOLSS)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Finite Automata for 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Plant automaton: G = (Q, Σ, δ, q₀, Qₘ)</a:t>
            </a:r>
          </a:p>
          <a:p>
            <a:pPr>
              <a:defRPr sz="1600"/>
            </a:pPr>
            <a:r>
              <a:t>Q = finite set of states</a:t>
            </a:r>
          </a:p>
          <a:p>
            <a:pPr>
              <a:defRPr sz="1600"/>
            </a:pPr>
            <a:r>
              <a:t>Σ = event alphabet</a:t>
            </a:r>
          </a:p>
          <a:p>
            <a:pPr>
              <a:defRPr sz="1600"/>
            </a:pPr>
            <a:r>
              <a:t>δ = transition function (state × event → state)</a:t>
            </a:r>
          </a:p>
          <a:p>
            <a:pPr>
              <a:defRPr sz="1600"/>
            </a:pPr>
            <a:r>
              <a:t>q₀ = initial state</a:t>
            </a:r>
          </a:p>
          <a:p>
            <a:pPr>
              <a:defRPr sz="1600"/>
            </a:pPr>
            <a:r>
              <a:t>Qₘ = marked states (task completion)</a:t>
            </a:r>
          </a:p>
          <a:p>
            <a:pPr>
              <a:defRPr sz="1600"/>
            </a:pPr>
            <a:r>
              <a:t>Generated language L(G): all possible event strings</a:t>
            </a:r>
          </a:p>
          <a:p>
            <a:pPr>
              <a:defRPr sz="1600"/>
            </a:pPr>
            <a:r>
              <a:t>Marked language Lₘ(G): strings ending in marked states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Source: Raisch, DES &amp; Hybrid Systems, §4.5.1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The Plant / Supervisor Feedback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/>
            </a:pPr>
            <a:r>
              <a:t>Plant G</a:t>
            </a:r>
          </a:p>
          <a:p>
            <a:pPr>
              <a:defRPr sz="1400"/>
            </a:pPr>
            <a:r>
              <a:t>• Plant G models ALL possible behaviour</a:t>
            </a:r>
          </a:p>
          <a:p>
            <a:pPr>
              <a:defRPr sz="1400"/>
            </a:pPr>
            <a:r>
              <a:t>• Including unsafe transitions</a:t>
            </a:r>
          </a:p>
          <a:p>
            <a:pPr>
              <a:defRPr sz="1400"/>
            </a:pPr>
            <a:r>
              <a:t>• Generates events (some controllable, some not)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18872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/>
            </a:pPr>
            <a:r>
              <a:t>Supervisor S</a:t>
            </a:r>
          </a:p>
          <a:p>
            <a:pPr>
              <a:defRPr sz="1400"/>
            </a:pPr>
            <a:r>
              <a:t>• Supervisor S restricts behaviour</a:t>
            </a:r>
          </a:p>
          <a:p>
            <a:pPr>
              <a:defRPr sz="1400"/>
            </a:pPr>
            <a:r>
              <a:t>• Observes events</a:t>
            </a:r>
          </a:p>
          <a:p>
            <a:pPr>
              <a:defRPr sz="1400"/>
            </a:pPr>
            <a:r>
              <a:t>• Disables controllable events</a:t>
            </a:r>
          </a:p>
          <a:p>
            <a:pPr>
              <a:defRPr sz="1400"/>
            </a:pPr>
            <a:r>
              <a:t>• Cannot prevent uncontrollable events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Controllable vs Uncontrollable Events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Property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Controllable (Σ_c)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Uncontrollable (Σ_uc)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Supervisor can...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Disable / prevent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NOT prevent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Typical 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Actuator commands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Sensor readings, faults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unscrew_cover, route_recycle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arrival, inspect_ok, fault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Engineering 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Commands you 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Outcomes you observe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Observability &amp; Partial Observation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Observable events (Σ_o): supervisor sees them happen</a:t>
            </a:r>
          </a:p>
          <a:p>
            <a:pPr>
              <a:defRPr sz="1600"/>
            </a:pPr>
            <a:r>
              <a:t>Unobservable events: happen silently</a:t>
            </a:r>
          </a:p>
          <a:p>
            <a:pPr>
              <a:defRPr sz="1600"/>
            </a:pPr>
            <a:r>
              <a:t>Natural projection P: Σ* → Σ_o* (erases unobservable events)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Challenge: if two strings look the same under P,</a:t>
            </a:r>
          </a:p>
          <a:p>
            <a:pPr>
              <a:defRPr sz="1600"/>
            </a:pPr>
            <a:r>
              <a:t>  the supervisor must make the SAME control decision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Practical impact: hidden damage, unconfirmed actuator commands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Source: Cai &amp; Wonham (2020), pp. 8–9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Safety vs Liveness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/>
            </a:pPr>
            <a:r>
              <a:t>Safety</a:t>
            </a:r>
          </a:p>
          <a:p>
            <a:pPr>
              <a:defRPr sz="1400"/>
            </a:pPr>
            <a:r>
              <a:t>• "Nothing bad ever happens"</a:t>
            </a:r>
          </a:p>
          <a:p>
            <a:pPr>
              <a:defRPr sz="1400"/>
            </a:pPr>
            <a:r>
              <a:t>• System never enters forbidden states</a:t>
            </a:r>
          </a:p>
          <a:p>
            <a:pPr>
              <a:defRPr sz="1400"/>
            </a:pPr>
            <a:r>
              <a:t>• Enforced by disabling unsafe transitions</a:t>
            </a:r>
          </a:p>
          <a:p>
            <a:pPr>
              <a:defRPr sz="1400"/>
            </a:pPr>
            <a:r>
              <a:t>• Example: never recycle without battery removal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18872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/>
            </a:pPr>
            <a:r>
              <a:t>Liveness / Nonblocking</a:t>
            </a:r>
          </a:p>
          <a:p>
            <a:pPr>
              <a:defRPr sz="1400"/>
            </a:pPr>
            <a:r>
              <a:t>• "Something good eventually happens"</a:t>
            </a:r>
          </a:p>
          <a:p>
            <a:pPr>
              <a:defRPr sz="1400"/>
            </a:pPr>
            <a:r>
              <a:t>• System can always make progress</a:t>
            </a:r>
          </a:p>
          <a:p>
            <a:pPr>
              <a:defRPr sz="1400"/>
            </a:pPr>
            <a:r>
              <a:t>• Can always reach a marked (completion) state</a:t>
            </a:r>
          </a:p>
          <a:p>
            <a:pPr>
              <a:defRPr sz="1400"/>
            </a:pPr>
            <a:r>
              <a:t>• Example: unit can always be processed to done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Blocking, Nonblocking, Deadlock, Livelock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Nonblocking: every reachable state can reach a marked state</a:t>
            </a:r>
          </a:p>
          <a:p>
            <a:pPr>
              <a:defRPr sz="1600"/>
            </a:pPr>
            <a:r>
              <a:t>  Formally: L̄ₘ(G) = L(G)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Deadlock: no transitions enabled (system is stuck)</a:t>
            </a:r>
          </a:p>
          <a:p>
            <a:pPr>
              <a:defRPr sz="1600"/>
            </a:pPr>
            <a:r>
              <a:t>Livelock: transitions exist but no path to marked state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Reachable: forward from q₀</a:t>
            </a:r>
          </a:p>
          <a:p>
            <a:pPr>
              <a:defRPr sz="1600"/>
            </a:pPr>
            <a:r>
              <a:t>Coreachable: backward from Qₘ</a:t>
            </a:r>
          </a:p>
          <a:p>
            <a:pPr>
              <a:defRPr sz="1600"/>
            </a:pPr>
            <a:r>
              <a:t>Trim = reachable ∩ coreachable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Source: Raisch, p. 75; Cai &amp; Wonham (2020), p. 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Worked Example: Demanufacturing Cell — Plant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Scenario: laptop intake → inspection → open/battery → recycle/quarantine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States: Idle, Intake, Inspected_OK, Inspected_Suspect,</a:t>
            </a:r>
          </a:p>
          <a:p>
            <a:pPr>
              <a:defRPr sz="1600"/>
            </a:pPr>
            <a:r>
              <a:t>        Opened, Battery_Removed, Recycle_Done, Quarantine_Done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Σ_c = {unscrew_cover, remove_battery, route_recycle, route_quarantine}</a:t>
            </a:r>
          </a:p>
          <a:p>
            <a:pPr>
              <a:defRPr sz="1600"/>
            </a:pPr>
            <a:r>
              <a:t>Σ_uc = {arrival, inspect_ok, inspect_sus}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Marked states = {Recycle_Done, Quarantine_Done}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Worked Example: Supervisor Rule Table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Enabled Σ_c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Disabled Σ_c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Rule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Inspected_OK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unscrew_cover, route_quarantine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route_recycle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Inspected_Suspect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route_quarantine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unscrew_cover, route_recycle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Opened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remove_battery, route_quarantine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route_recycle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Battery_Removed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route_recycle, route_quarantine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Petri Nets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Bipartite graph: places (circles) + transitions (rectangles)</a:t>
            </a:r>
          </a:p>
          <a:p>
            <a:pPr>
              <a:defRPr sz="1600"/>
            </a:pPr>
            <a:r>
              <a:t>Tokens in places represent state / resource availability</a:t>
            </a:r>
          </a:p>
          <a:p>
            <a:pPr>
              <a:defRPr sz="1600"/>
            </a:pPr>
            <a:r>
              <a:t>Firing: transition consumes input tokens, produces output tokens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Advantages over automata:</a:t>
            </a:r>
          </a:p>
          <a:p>
            <a:pPr>
              <a:defRPr sz="1600"/>
            </a:pPr>
            <a:r>
              <a:t>  → Natural resource contention modelling (robot, station)</a:t>
            </a:r>
          </a:p>
          <a:p>
            <a:pPr>
              <a:defRPr sz="1600"/>
            </a:pPr>
            <a:r>
              <a:t>  → Concurrency without state explosion</a:t>
            </a:r>
          </a:p>
          <a:p>
            <a:pPr>
              <a:defRPr sz="1600"/>
            </a:pPr>
            <a:r>
              <a:t>  → Place invariants for structural safety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Source: Murata, Petri Nets (1989 tutorial paper)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Petri Net: Demanufacturing Cell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Flow places: Unit_In → Wait_Inspect → OK/SUS → OPEN → ...</a:t>
            </a:r>
          </a:p>
          <a:p>
            <a:pPr>
              <a:defRPr sz="1600"/>
            </a:pPr>
            <a:r>
              <a:t>Resource places: INSPECTOR_FREE, ROBOT_FREE</a:t>
            </a:r>
          </a:p>
          <a:p>
            <a:pPr>
              <a:defRPr sz="1600"/>
            </a:pPr>
            <a:r>
              <a:t>Status places: SAFE_FLAG/HAZARD_FLAG, BATT_IN/BATT_OUT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Key invariants:</a:t>
            </a:r>
          </a:p>
          <a:p>
            <a:pPr>
              <a:defRPr sz="1600"/>
            </a:pPr>
            <a:r>
              <a:t>  INSPECTOR_FREE = 1  (always available)</a:t>
            </a:r>
          </a:p>
          <a:p>
            <a:pPr>
              <a:defRPr sz="1600"/>
            </a:pPr>
            <a:r>
              <a:t>  ROBOT_FREE = 1  (always available)</a:t>
            </a:r>
          </a:p>
          <a:p>
            <a:pPr>
              <a:defRPr sz="1600"/>
            </a:pPr>
            <a:r>
              <a:t>  SAFE_FLAG + HAZARD_FLAG = 1  (boolean)</a:t>
            </a:r>
          </a:p>
          <a:p>
            <a:pPr>
              <a:defRPr sz="1600"/>
            </a:pPr>
            <a:r>
              <a:t>  BATT_IN + BATT_OUT = 1  (boolean)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Supervisor disables: unscrew_hazard, recycle_direct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1 —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1. Demanufacturing cells are naturally DES (event-driven)</a:t>
            </a:r>
          </a:p>
          <a:p>
            <a:pPr>
              <a:defRPr sz="1600"/>
            </a:pPr>
            <a:r>
              <a:t>2. Plant automaton models ALL physically possible behaviour</a:t>
            </a:r>
          </a:p>
          <a:p>
            <a:pPr>
              <a:defRPr sz="1600"/>
            </a:pPr>
            <a:r>
              <a:t>3. Supervisor disables controllable events to enforce safety</a:t>
            </a:r>
          </a:p>
          <a:p>
            <a:pPr>
              <a:defRPr sz="1600"/>
            </a:pPr>
            <a:r>
              <a:t>4. Uncontrollable events constrain what any supervisor can achieve</a:t>
            </a:r>
          </a:p>
          <a:p>
            <a:pPr>
              <a:defRPr sz="1600"/>
            </a:pPr>
            <a:r>
              <a:t>5. Nonblocking guarantees the system can always complete safely</a:t>
            </a:r>
          </a:p>
          <a:p>
            <a:pPr>
              <a:defRPr sz="1600"/>
            </a:pPr>
            <a:r>
              <a:t>6. Petri nets complement automata for resource/concurrency modelling</a:t>
            </a:r>
          </a:p>
          <a:p>
            <a:pPr>
              <a:defRPr sz="1600"/>
            </a:pPr>
            <a:r>
              <a:t>7. The supervisor-enabled set is the formal foundation</a:t>
            </a:r>
          </a:p>
          <a:p>
            <a:pPr>
              <a:defRPr sz="1600"/>
            </a:pPr>
            <a:r>
              <a:t>   for all higher layers (twin, learning, mediation)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Recommended Next Steps — Week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Week 2 focus: Structural Uncertainty &amp; Belief States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→ What happens when events are partially observable?</a:t>
            </a:r>
          </a:p>
          <a:p>
            <a:pPr>
              <a:defRPr sz="1600"/>
            </a:pPr>
            <a:r>
              <a:t>→ Belief states: distributions over possible states</a:t>
            </a:r>
          </a:p>
          <a:p>
            <a:pPr>
              <a:defRPr sz="1600"/>
            </a:pPr>
            <a:r>
              <a:t>→ Information-state supervisors</a:t>
            </a:r>
          </a:p>
          <a:p>
            <a:pPr>
              <a:defRPr sz="1600"/>
            </a:pPr>
            <a:r>
              <a:t>→ Connection to the digital twin's state estimation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Tools: same cell model, extended with unobservable events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